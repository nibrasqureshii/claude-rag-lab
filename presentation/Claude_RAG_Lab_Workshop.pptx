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Claude RAG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E0C9B0"/>
                </a:solidFill>
                <a:latin typeface="Calibri"/>
              </a:rPr>
              <a:t>See exactly how Retrieval-Augmented Generation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011680" cy="381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8C8D4"/>
                </a:solidFill>
                <a:latin typeface="Calibri"/>
              </a:rPr>
              <a:t>Your code retrieves the knowledge. Claude generates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6B76"/>
                </a:solidFill>
                <a:latin typeface="Calibri"/>
              </a:rPr>
              <a:t>A hands-on workshop for developers new to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Claude Knows a Lot — But Not Your Private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384048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Claude
(trained on public data
up to a knowledge cutoff)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74920" y="2926080"/>
            <a:ext cx="914400" cy="36576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377440"/>
            <a:ext cx="4206240" cy="146304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🔒 Acme Robotics internal docs
(refund policy, wiki, private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Claude was trained on public data up to a point in time.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It has never seen your company's refund policy, internal wiki, or any non-public document.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That's not a bug — it's a starting assumption we have to design around.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What Happens Without RAG?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9966960" cy="91440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Live demo: Chat tab → "How long do Acme customers have to request a full refund?" → Ask Claude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Claude either admits it doesn't know...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...or, more interesting for the room, confidently guesses a plausible-sounding answer that isn't grounded in anything real.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This is the exact problem RAG solves.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The RAG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767" y="2926080"/>
            <a:ext cx="18288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Question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2567" y="3246120"/>
            <a:ext cx="280040" cy="36576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2607" y="2926080"/>
            <a:ext cx="1828800" cy="100584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Retrieve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81407" y="3246120"/>
            <a:ext cx="280040" cy="36576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1447" y="2926080"/>
            <a:ext cx="18288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Augment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30247" y="3246120"/>
            <a:ext cx="280040" cy="36576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0287" y="2926080"/>
            <a:ext cx="1828800" cy="100584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Generate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79087" y="3246120"/>
            <a:ext cx="280040" cy="36576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79127" y="2926080"/>
            <a:ext cx="18288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Retrieval-Augmented Generation means retrieving relevant external information before asking a language model to generate an answer. Two separate steps, cleanly divided.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Your code retrieves the knowledge.
Claude generates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C8C8D4"/>
                </a:solidFill>
                <a:latin typeface="Calibri"/>
              </a:rPr>
              <a:t>Say it out loud. Everything else in this workshop is detail underneath this one idea.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Documents →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41148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2E"/>
                </a:solidFill>
              </a:rPr>
              <a:t>"Customers get a full refund
within 30 days"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94960" y="2788920"/>
            <a:ext cx="822960" cy="36576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4389120" cy="109728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2E"/>
                </a:solidFill>
              </a:rPr>
              <a:t>[0.12, -0.87, 0.44, ... ]
(384-dimensional vector)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An embedding is a numerical vector that represents semantic meaning.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Two pieces of text that mean similar things end up with similar vectors — even without sharing exact words.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This runs locally (sentence-transformers) and is free.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Why Chunking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9966960" cy="82296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2E"/>
                </a:solidFill>
              </a:rPr>
              <a:t>Live demo: Experiments → Chunk Size — re-index at 150, then 1000, compare chunk count &amp;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We can't embed a whole document as one vector — that would blend every idea into one blurry average.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Chunking splits documents into smaller, focused, retrievable units.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Default in this lab: 500-word chunks with 75-word overlap.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Vector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3017520"/>
            <a:ext cx="502920" cy="502920"/>
          </a:xfrm>
          <a:prstGeom prst="ellipse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2011680"/>
            <a:ext cx="320040" cy="32004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087368" y="2167128"/>
            <a:ext cx="1645920" cy="1097280"/>
          </a:xfrm>
          <a:prstGeom prst="line">
            <a:avLst/>
          </a:prstGeom>
          <a:ln w="9525">
            <a:solidFill>
              <a:srgbClr val="6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06640" y="2103120"/>
            <a:ext cx="320040" cy="32004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5733288" y="2258568"/>
            <a:ext cx="1828800" cy="1005840"/>
          </a:xfrm>
          <a:prstGeom prst="line">
            <a:avLst/>
          </a:prstGeom>
          <a:ln w="9525">
            <a:solidFill>
              <a:srgbClr val="6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291840" y="4023360"/>
            <a:ext cx="320040" cy="32004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447288" y="3264408"/>
            <a:ext cx="2286000" cy="914400"/>
          </a:xfrm>
          <a:prstGeom prst="line">
            <a:avLst/>
          </a:prstGeom>
          <a:ln w="9525">
            <a:solidFill>
              <a:srgbClr val="6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863840" y="4206240"/>
            <a:ext cx="320040" cy="32004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5733288" y="3264408"/>
            <a:ext cx="2286000" cy="1097280"/>
          </a:xfrm>
          <a:prstGeom prst="line">
            <a:avLst/>
          </a:prstGeom>
          <a:ln w="9525">
            <a:solidFill>
              <a:srgbClr val="6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20640" y="4937760"/>
            <a:ext cx="320040" cy="32004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5276088" y="3264408"/>
            <a:ext cx="457200" cy="1828800"/>
          </a:xfrm>
          <a:prstGeom prst="line">
            <a:avLst/>
          </a:prstGeom>
          <a:ln w="9525">
            <a:solidFill>
              <a:srgbClr val="6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00800" y="1554480"/>
            <a:ext cx="320040" cy="32004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5733288" y="1709928"/>
            <a:ext cx="822960" cy="1554480"/>
          </a:xfrm>
          <a:prstGeom prst="line">
            <a:avLst/>
          </a:prstGeom>
          <a:ln w="9525">
            <a:solidFill>
              <a:srgbClr val="6B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53949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ChromaDB stores every chunk's vector locally and finds the closest ones to a query vector.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 Chroma does NOT generate anything — it is a search index over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Full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2367" y="210312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2E"/>
                </a:solidFill>
              </a:rPr>
              <a:t>Documents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13367" y="2331720"/>
            <a:ext cx="244320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72687" y="210312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2E"/>
                </a:solidFill>
              </a:rPr>
              <a:t>Chunking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73687" y="2331720"/>
            <a:ext cx="244320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3007" y="210312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2E"/>
                </a:solidFill>
              </a:rP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34007" y="2331720"/>
            <a:ext cx="244320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93327" y="210312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2E"/>
                </a:solidFill>
              </a:rPr>
              <a:t>Vector Store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753447" y="2926080"/>
            <a:ext cx="274320" cy="457200"/>
          </a:xfrm>
          <a:prstGeom prst="down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5811" y="338328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A2E"/>
                </a:solidFill>
              </a:rPr>
              <a:t>Query Embedding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28891" y="3611880"/>
            <a:ext cx="181168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20059" y="338328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A2E"/>
                </a:solidFill>
              </a:rPr>
              <a:t>Retrieval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13139" y="3611880"/>
            <a:ext cx="181168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04307" y="338328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A2E"/>
                </a:solidFill>
              </a:rPr>
              <a:t>Prompt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97387" y="3611880"/>
            <a:ext cx="181168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88555" y="3383280"/>
            <a:ext cx="1783080" cy="77724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A2E"/>
                </a:solidFill>
              </a:rPr>
              <a:t>Claude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81635" y="3611880"/>
            <a:ext cx="181168" cy="320040"/>
          </a:xfrm>
          <a:prstGeom prst="rightArrow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2803" y="338328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A1A2E"/>
                </a:solidFill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Walk through all 8 stages end to end. Code lives in small, single-responsibility modules under app/rag/ — one file per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Live Demo — Ask, Retrieve, Inspect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9966960" cy="82296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2E"/>
                </a:solidFill>
              </a:rPr>
              <a:t>Ask the refund question with Run RAG → open Retrieval panel (similarity scores) → open Prompt Inspector (exact prompt 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This is the "aha" moment — the room sees the actual prompt, not a black box.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Every retrieved chunk is shown with its source and similarity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Break the RAG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9966960" cy="82296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2E"/>
                </a:solidFill>
              </a:rPr>
              <a:t>Live demo: Experiments → Retrieval Failure — "Who founded Acme Robotics in 1987?"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When similarity falls below threshold, a properly grounded system refuses to answer rather than fabricating one.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Show the warning message live in the 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RAG OFF vs RAG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448056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RAG OFF
No claim of private knowledge —
may guess or refuse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4480560" cy="1828800"/>
          </a:xfrm>
          <a:prstGeom prst="roundRect">
            <a:avLst/>
          </a:prstGeom>
          <a:solidFill>
            <a:srgbClr val="EEE3D8"/>
          </a:solidFill>
          <a:ln w="15875">
            <a:solidFill>
              <a:srgbClr val="D4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1A1A2E"/>
                </a:solidFill>
              </a:rPr>
              <a:t>RAG ON
Grounded answer with a
cited source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Live demo: Pipeline tab's side-by-side comparison for the refund question. Same question, two paths.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Where RAG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RAG doesn't eliminate hallucination — a model can still ignore instructions or blend retrieved facts with unrelated training knowledge.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Poor chunking, a weak embedding model, or a too-low similarity threshold can all cause retrieval to miss the right answer.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A2E"/>
                </a:solidFill>
                <a:latin typeface="Calibri"/>
              </a:rPr>
              <a:t>•  RAG raises the floor; it doesn't guarantee correctness.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BEYOND THIS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Production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This lab keeps everything local and simple for teaching. Production adds: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9326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Access control per document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Re-ranking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Hybrid keyword + vector search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Evaluation pipelines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Chunk freshness / versioning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A1A2E"/>
                </a:solidFill>
                <a:latin typeface="Calibri"/>
              </a:rPr>
              <a:t>•  Monitoring for retrieval quality drift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Three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03120"/>
            <a:ext cx="548640" cy="548640"/>
          </a:xfrm>
          <a:prstGeom prst="ellipse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057400"/>
            <a:ext cx="8961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Retrieval and generation are separate steps — you can inspect, swap, or debug each one independently.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474720"/>
            <a:ext cx="548640" cy="548640"/>
          </a:xfrm>
          <a:prstGeom prst="ellipse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429000"/>
            <a:ext cx="8961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A similarity score is closeness, not confidence.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846320"/>
            <a:ext cx="548640" cy="548640"/>
          </a:xfrm>
          <a:prstGeom prst="ellipse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800600"/>
            <a:ext cx="8961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Grounding reduces hallucination but doesn't guarantee correctness — a well-designed system says "I don't know" instead of guessing.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46A2B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libri"/>
              </a:rPr>
              <a:t>Suggested Workshop Demo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6B76"/>
                </a:solidFill>
                <a:latin typeface="Calibri"/>
              </a:rPr>
              <a:t>Claude RAG Lab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6B7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1. Ask Claude directly (no RAG) — refund question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2. Same question, with RAG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3. Open retrieval results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4. Open the exact prompt sent to Claude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5. Change Top-K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6. Change chunk size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7. Ask a question with no matching information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8. Turn RAG off again for contrast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9. Use semantic search without Claude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10. Walk through the Obsidian Canvas architecture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1">
                <a:solidFill>
                  <a:srgbClr val="D46A2B"/>
                </a:solidFill>
                <a:latin typeface="Calibri"/>
              </a:rPr>
              <a:t>Reinforce throughout: Retrieve ≠ Generate.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